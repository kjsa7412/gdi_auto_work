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</p:sldMasterIdLst>
  <p:notesMasterIdLst>
    <p:notesMasterId r:id="rId6"/>
  </p:notesMasterIdLst>
  <p:sldIdLst>
    <p:sldId id="816" r:id="rId3"/>
    <p:sldId id="715" r:id="rId4"/>
    <p:sldId id="716" r:id="rId5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325" userDrawn="1">
          <p15:clr>
            <a:srgbClr val="A4A3A4"/>
          </p15:clr>
        </p15:guide>
        <p15:guide id="5" orient="horz" pos="232" userDrawn="1">
          <p15:clr>
            <a:srgbClr val="A4A3A4"/>
          </p15:clr>
        </p15:guide>
        <p15:guide id="6" pos="4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정의열" initials="정" lastIdx="1" clrIdx="0">
    <p:extLst>
      <p:ext uri="{19B8F6BF-5375-455C-9EA6-DF929625EA0E}">
        <p15:presenceInfo xmlns:p15="http://schemas.microsoft.com/office/powerpoint/2012/main" userId="c66af86b3a1b4624" providerId="Windows Live"/>
      </p:ext>
    </p:extLst>
  </p:cmAuthor>
  <p:cmAuthor id="2" name="세정아이앤씨" initials="세" lastIdx="20" clrIdx="1">
    <p:extLst>
      <p:ext uri="{19B8F6BF-5375-455C-9EA6-DF929625EA0E}">
        <p15:presenceInfo xmlns:p15="http://schemas.microsoft.com/office/powerpoint/2012/main" userId="세정아이앤씨" providerId="None"/>
      </p:ext>
    </p:extLst>
  </p:cmAuthor>
  <p:cmAuthor id="3" name="dade1075" initials="d" lastIdx="48" clrIdx="2">
    <p:extLst>
      <p:ext uri="{19B8F6BF-5375-455C-9EA6-DF929625EA0E}">
        <p15:presenceInfo xmlns:p15="http://schemas.microsoft.com/office/powerpoint/2012/main" userId="dade1075" providerId="None"/>
      </p:ext>
    </p:extLst>
  </p:cmAuthor>
  <p:cmAuthor id="4" name="sjinc" initials="s" lastIdx="12" clrIdx="3">
    <p:extLst>
      <p:ext uri="{19B8F6BF-5375-455C-9EA6-DF929625EA0E}">
        <p15:presenceInfo xmlns:p15="http://schemas.microsoft.com/office/powerpoint/2012/main" userId="sjin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BE5D6"/>
    <a:srgbClr val="D9D9D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68" autoAdjust="0"/>
    <p:restoredTop sz="89402" autoAdjust="0"/>
  </p:normalViewPr>
  <p:slideViewPr>
    <p:cSldViewPr snapToGrid="0" showGuides="1">
      <p:cViewPr varScale="1">
        <p:scale>
          <a:sx n="100" d="100"/>
          <a:sy n="100" d="100"/>
        </p:scale>
        <p:origin x="-678" y="78"/>
      </p:cViewPr>
      <p:guideLst>
        <p:guide orient="horz" pos="2160"/>
        <p:guide pos="3840"/>
        <p:guide pos="7355"/>
        <p:guide pos="325"/>
        <p:guide orient="horz" pos="232"/>
        <p:guide pos="4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1F523CF-318F-4554-89EE-46A37DDEE47B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6EC07B0-5F49-481A-8326-31BBD861BE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9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C07B0-5F49-481A-8326-31BBD861BE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489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검토기한이 지나더라도</a:t>
            </a:r>
            <a:r>
              <a:rPr lang="en-US" altLang="ko-KR" dirty="0"/>
              <a:t>, </a:t>
            </a:r>
            <a:r>
              <a:rPr lang="ko-KR" altLang="en-US" dirty="0"/>
              <a:t>입력 가능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의견서등록이 완료되었더라도 추후에 </a:t>
            </a:r>
            <a:r>
              <a:rPr lang="ko-KR" altLang="en-US" dirty="0" err="1"/>
              <a:t>등록가능해야함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C07B0-5F49-481A-8326-31BBD861BE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34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E83EADB-4EC7-4F96-8EDE-7C8F867A87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52988" b="3420"/>
          <a:stretch/>
        </p:blipFill>
        <p:spPr>
          <a:xfrm>
            <a:off x="491377" y="6598645"/>
            <a:ext cx="943723" cy="13646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E0F757-AF57-4172-BB20-430232CD0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177" y="6598646"/>
            <a:ext cx="2007447" cy="14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2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>
            <a:extLst>
              <a:ext uri="{FF2B5EF4-FFF2-40B4-BE49-F238E27FC236}">
                <a16:creationId xmlns:a16="http://schemas.microsoft.com/office/drawing/2014/main" id="{DB8DE892-407A-4015-A66C-3FF283A52C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287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15">
            <a:extLst>
              <a:ext uri="{FF2B5EF4-FFF2-40B4-BE49-F238E27FC236}">
                <a16:creationId xmlns:a16="http://schemas.microsoft.com/office/drawing/2014/main" id="{3A162E40-D3D4-4448-A170-98CA755956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5327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428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5">
            <a:extLst>
              <a:ext uri="{FF2B5EF4-FFF2-40B4-BE49-F238E27FC236}">
                <a16:creationId xmlns:a16="http://schemas.microsoft.com/office/drawing/2014/main" id="{D878212B-2088-444B-8277-E7CC76A4A2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5327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94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247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732653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09DC-8B26-4F78-BF67-99ED0FF630C6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9E4E-E673-4704-AB82-56E5DF3539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60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23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8">
            <a:extLst>
              <a:ext uri="{FF2B5EF4-FFF2-40B4-BE49-F238E27FC236}">
                <a16:creationId xmlns:a16="http://schemas.microsoft.com/office/drawing/2014/main" id="{DB8DE892-407A-4015-A66C-3FF283A52C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287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15">
            <a:extLst>
              <a:ext uri="{FF2B5EF4-FFF2-40B4-BE49-F238E27FC236}">
                <a16:creationId xmlns:a16="http://schemas.microsoft.com/office/drawing/2014/main" id="{3A162E40-D3D4-4448-A170-98CA755956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5327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4098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5">
            <a:extLst>
              <a:ext uri="{FF2B5EF4-FFF2-40B4-BE49-F238E27FC236}">
                <a16:creationId xmlns:a16="http://schemas.microsoft.com/office/drawing/2014/main" id="{D878212B-2088-444B-8277-E7CC76A4A2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6186" y="1192215"/>
            <a:ext cx="11693769" cy="5327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6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247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247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0268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Rectangle 119"/>
          <p:cNvSpPr>
            <a:spLocks noChangeArrowheads="1"/>
          </p:cNvSpPr>
          <p:nvPr userDrawn="1"/>
        </p:nvSpPr>
        <p:spPr bwMode="auto">
          <a:xfrm>
            <a:off x="5859616" y="6594476"/>
            <a:ext cx="31450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18263DAE-4351-4B08-B969-CDCD382BB57B}" type="slidenum">
              <a:rPr kumimoji="1"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06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0" r:id="rId5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Rectangle 119"/>
          <p:cNvSpPr>
            <a:spLocks noChangeArrowheads="1"/>
          </p:cNvSpPr>
          <p:nvPr userDrawn="1"/>
        </p:nvSpPr>
        <p:spPr bwMode="auto">
          <a:xfrm>
            <a:off x="5859616" y="6594476"/>
            <a:ext cx="314509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fld id="{18263DAE-4351-4B08-B969-CDCD382BB57B}" type="slidenum">
              <a:rPr kumimoji="1" lang="ko-KR" altLang="en-US" sz="8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8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078212"/>
              </p:ext>
            </p:extLst>
          </p:nvPr>
        </p:nvGraphicFramePr>
        <p:xfrm>
          <a:off x="246185" y="444500"/>
          <a:ext cx="11699632" cy="425450"/>
        </p:xfrm>
        <a:graphic>
          <a:graphicData uri="http://schemas.openxmlformats.org/drawingml/2006/table">
            <a:tbl>
              <a:tblPr/>
              <a:tblGrid>
                <a:gridCol w="117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8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3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6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9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58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프로젝트명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8739" marR="48739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세정 정보시스템 개편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</a:t>
                      </a:r>
                      <a:b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</a:t>
                      </a:r>
                      <a:b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설계서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작업일자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2024.04.10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 무 명</a:t>
                      </a:r>
                    </a:p>
                  </a:txBody>
                  <a:tcPr marL="48739" marR="48739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고객관리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SJ_AN_APP_101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0.8</a:t>
                      </a:r>
                    </a:p>
                  </a:txBody>
                  <a:tcPr marL="48739" marR="48739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7E83EADB-4EC7-4F96-8EDE-7C8F867A87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r="52988" b="3420"/>
          <a:stretch/>
        </p:blipFill>
        <p:spPr>
          <a:xfrm>
            <a:off x="491377" y="6598645"/>
            <a:ext cx="943723" cy="1364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0E0F757-AF57-4172-BB20-430232CD0B7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177" y="6598646"/>
            <a:ext cx="2007447" cy="14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900">
          <a:solidFill>
            <a:schemeClr val="tx2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E4A457FF-42C6-4D0B-8CEC-4F002E64FDD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9" y="2484863"/>
          <a:ext cx="7921052" cy="3477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992">
                  <a:extLst>
                    <a:ext uri="{9D8B030D-6E8A-4147-A177-3AD203B41FA5}">
                      <a16:colId xmlns:a16="http://schemas.microsoft.com/office/drawing/2014/main" val="2417316361"/>
                    </a:ext>
                  </a:extLst>
                </a:gridCol>
                <a:gridCol w="1088240">
                  <a:extLst>
                    <a:ext uri="{9D8B030D-6E8A-4147-A177-3AD203B41FA5}">
                      <a16:colId xmlns:a16="http://schemas.microsoft.com/office/drawing/2014/main" val="1467578582"/>
                    </a:ext>
                  </a:extLst>
                </a:gridCol>
                <a:gridCol w="4146428">
                  <a:extLst>
                    <a:ext uri="{9D8B030D-6E8A-4147-A177-3AD203B41FA5}">
                      <a16:colId xmlns:a16="http://schemas.microsoft.com/office/drawing/2014/main" val="388024351"/>
                    </a:ext>
                  </a:extLst>
                </a:gridCol>
                <a:gridCol w="957720">
                  <a:extLst>
                    <a:ext uri="{9D8B030D-6E8A-4147-A177-3AD203B41FA5}">
                      <a16:colId xmlns:a16="http://schemas.microsoft.com/office/drawing/2014/main" val="1108991910"/>
                    </a:ext>
                  </a:extLst>
                </a:gridCol>
                <a:gridCol w="787206">
                  <a:extLst>
                    <a:ext uri="{9D8B030D-6E8A-4147-A177-3AD203B41FA5}">
                      <a16:colId xmlns:a16="http://schemas.microsoft.com/office/drawing/2014/main" val="2908945484"/>
                    </a:ext>
                  </a:extLst>
                </a:gridCol>
                <a:gridCol w="719466">
                  <a:extLst>
                    <a:ext uri="{9D8B030D-6E8A-4147-A177-3AD203B41FA5}">
                      <a16:colId xmlns:a16="http://schemas.microsoft.com/office/drawing/2014/main" val="247546196"/>
                    </a:ext>
                  </a:extLst>
                </a:gridCol>
              </a:tblGrid>
              <a:tr h="193025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연구유형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연구과제명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접수일자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검토상태 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의견서작성일 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도정책과제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농촌공간 재구조화를 위한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농촌특화지구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활성화 방안 연구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2025-09-16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과제접수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도정책과제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역노화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산업단지 조성을 위한 지역농업 조직화 방안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2025-09-14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사전검토요청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도수시과제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근로감독업무 지방이양에 따른 경상북도 추진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뱡향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의견서작성완료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9778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도수시과제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)2026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년도 생활임금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의견서작성완료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9572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도정책과제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경상북도 지역활성화지역 재선정 모델 연구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의견서작성완료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4692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도정책과제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정책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무탄소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전원개발사업 추진에 따른 지역경제 영향분석 및 주민 수용성 제고 방안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의견서작성완료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8109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823524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5845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8329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03747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05615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65161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343804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5871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2035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16511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9243"/>
                  </a:ext>
                </a:extLst>
              </a:tr>
            </a:tbl>
          </a:graphicData>
        </a:graphic>
      </p:graphicFrame>
      <p:sp>
        <p:nvSpPr>
          <p:cNvPr id="116" name="Text Box 3"/>
          <p:cNvSpPr txBox="1">
            <a:spLocks noChangeArrowheads="1"/>
          </p:cNvSpPr>
          <p:nvPr/>
        </p:nvSpPr>
        <p:spPr bwMode="auto">
          <a:xfrm>
            <a:off x="515938" y="703034"/>
            <a:ext cx="1796251" cy="2573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36000" tIns="36000" rIns="36000" bIns="36000">
            <a:spAutoFit/>
          </a:bodyPr>
          <a:lstStyle/>
          <a:p>
            <a:pPr latinLnBrk="0">
              <a:defRPr/>
            </a:pPr>
            <a:r>
              <a:rPr lang="en-US" altLang="ko-KR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화면개요 및 레이아웃</a:t>
            </a:r>
            <a:endParaRPr lang="en-US" altLang="ko-KR" sz="12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21" name="Group 403"/>
          <p:cNvGraphicFramePr>
            <a:graphicFrameLocks noGrp="1"/>
          </p:cNvGraphicFramePr>
          <p:nvPr>
            <p:extLst/>
          </p:nvPr>
        </p:nvGraphicFramePr>
        <p:xfrm>
          <a:off x="2532715" y="717569"/>
          <a:ext cx="9143348" cy="216024"/>
        </p:xfrm>
        <a:graphic>
          <a:graphicData uri="http://schemas.openxmlformats.org/drawingml/2006/table">
            <a:tbl>
              <a:tblPr/>
              <a:tblGrid>
                <a:gridCol w="126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사전검토관리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5" name="직선 연결선 10"/>
          <p:cNvCxnSpPr>
            <a:cxnSpLocks noChangeShapeType="1"/>
          </p:cNvCxnSpPr>
          <p:nvPr/>
        </p:nvCxnSpPr>
        <p:spPr bwMode="auto">
          <a:xfrm flipV="1">
            <a:off x="519695" y="1246048"/>
            <a:ext cx="11158185" cy="1043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2" name="Rectangle 35">
            <a:extLst>
              <a:ext uri="{FF2B5EF4-FFF2-40B4-BE49-F238E27FC236}">
                <a16:creationId xmlns:a16="http://schemas.microsoft.com/office/drawing/2014/main" id="{C64788A2-065D-40D9-B8A4-D70815CE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80" y="1011099"/>
            <a:ext cx="1441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사전검토관리</a:t>
            </a:r>
          </a:p>
        </p:txBody>
      </p:sp>
      <p:graphicFrame>
        <p:nvGraphicFramePr>
          <p:cNvPr id="37" name="Group 403">
            <a:extLst>
              <a:ext uri="{FF2B5EF4-FFF2-40B4-BE49-F238E27FC236}">
                <a16:creationId xmlns:a16="http://schemas.microsoft.com/office/drawing/2014/main" id="{D02C8320-8418-4587-AF86-9AADA7EE76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8" y="164376"/>
          <a:ext cx="11160125" cy="448800"/>
        </p:xfrm>
        <a:graphic>
          <a:graphicData uri="http://schemas.openxmlformats.org/drawingml/2006/table">
            <a:tbl>
              <a:tblPr/>
              <a:tblGrid>
                <a:gridCol w="1483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6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</a:t>
                      </a: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연구과제선정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사전검토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SEB010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사전검토관리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(TAB)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AS-IS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사전검토의견서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(RP010103)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직사각형 14">
            <a:extLst>
              <a:ext uri="{FF2B5EF4-FFF2-40B4-BE49-F238E27FC236}">
                <a16:creationId xmlns:a16="http://schemas.microsoft.com/office/drawing/2014/main" id="{3F585A63-6896-44B0-B4ED-17F6E9A5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9" y="1321725"/>
            <a:ext cx="11160124" cy="83595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Rectangle 35">
            <a:extLst>
              <a:ext uri="{FF2B5EF4-FFF2-40B4-BE49-F238E27FC236}">
                <a16:creationId xmlns:a16="http://schemas.microsoft.com/office/drawing/2014/main" id="{C1FAC6BE-AE6E-426F-B38B-8C150C5A2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167" y="2243138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사전검토목록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Rectangle 244">
            <a:extLst>
              <a:ext uri="{FF2B5EF4-FFF2-40B4-BE49-F238E27FC236}">
                <a16:creationId xmlns:a16="http://schemas.microsoft.com/office/drawing/2014/main" id="{E59A7C73-E558-4E81-A082-EC682DDB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6303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초기화</a:t>
            </a:r>
          </a:p>
        </p:txBody>
      </p:sp>
      <p:sp>
        <p:nvSpPr>
          <p:cNvPr id="64" name="Rectangle 244">
            <a:extLst>
              <a:ext uri="{FF2B5EF4-FFF2-40B4-BE49-F238E27FC236}">
                <a16:creationId xmlns:a16="http://schemas.microsoft.com/office/drawing/2014/main" id="{E1639D65-D872-4E02-92E7-ADFB78945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3832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삭제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4D6E4F7-154F-47CD-9E8D-9EC7DA948309}"/>
              </a:ext>
            </a:extLst>
          </p:cNvPr>
          <p:cNvSpPr/>
          <p:nvPr/>
        </p:nvSpPr>
        <p:spPr>
          <a:xfrm>
            <a:off x="562260" y="2716751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FDD08F0-ECB8-47E6-8045-33A2F83C7AEE}"/>
              </a:ext>
            </a:extLst>
          </p:cNvPr>
          <p:cNvSpPr/>
          <p:nvPr/>
        </p:nvSpPr>
        <p:spPr>
          <a:xfrm>
            <a:off x="562260" y="2917533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20E6A2CE-2416-4E14-845F-0B1E18B4B05D}"/>
              </a:ext>
            </a:extLst>
          </p:cNvPr>
          <p:cNvSpPr/>
          <p:nvPr/>
        </p:nvSpPr>
        <p:spPr>
          <a:xfrm>
            <a:off x="562260" y="3116351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51B9207-DC75-4C71-A708-8CCA920ABE5C}"/>
              </a:ext>
            </a:extLst>
          </p:cNvPr>
          <p:cNvSpPr/>
          <p:nvPr/>
        </p:nvSpPr>
        <p:spPr>
          <a:xfrm>
            <a:off x="562260" y="3300355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CC54E8D-74F2-48D7-857D-5C67CA886DB8}"/>
              </a:ext>
            </a:extLst>
          </p:cNvPr>
          <p:cNvSpPr/>
          <p:nvPr/>
        </p:nvSpPr>
        <p:spPr>
          <a:xfrm>
            <a:off x="562260" y="3485086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Rectangle 244">
            <a:extLst>
              <a:ext uri="{FF2B5EF4-FFF2-40B4-BE49-F238E27FC236}">
                <a16:creationId xmlns:a16="http://schemas.microsoft.com/office/drawing/2014/main" id="{7E22F851-A662-47F0-873B-631359190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1361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신규</a:t>
            </a:r>
          </a:p>
        </p:txBody>
      </p:sp>
      <p:sp>
        <p:nvSpPr>
          <p:cNvPr id="113" name="Rectangle 244">
            <a:extLst>
              <a:ext uri="{FF2B5EF4-FFF2-40B4-BE49-F238E27FC236}">
                <a16:creationId xmlns:a16="http://schemas.microsoft.com/office/drawing/2014/main" id="{0FA96826-D72F-4F82-B740-73F19C665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8890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</a:t>
            </a:r>
          </a:p>
        </p:txBody>
      </p:sp>
      <p:cxnSp>
        <p:nvCxnSpPr>
          <p:cNvPr id="30" name="직선 연결선 10">
            <a:extLst>
              <a:ext uri="{FF2B5EF4-FFF2-40B4-BE49-F238E27FC236}">
                <a16:creationId xmlns:a16="http://schemas.microsoft.com/office/drawing/2014/main" id="{C33C210D-29C2-4EC9-83F4-4C83AB483F3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9695" y="1246048"/>
            <a:ext cx="11158185" cy="1043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C0870B1-1EDA-4472-8223-CCEE8D90AE19}"/>
              </a:ext>
            </a:extLst>
          </p:cNvPr>
          <p:cNvGrpSpPr/>
          <p:nvPr/>
        </p:nvGrpSpPr>
        <p:grpSpPr>
          <a:xfrm>
            <a:off x="2927076" y="1874649"/>
            <a:ext cx="1807051" cy="161925"/>
            <a:chOff x="1032120" y="2684192"/>
            <a:chExt cx="1807051" cy="161925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D084A0AD-416C-4B25-94D8-6B3787045BC3}"/>
                </a:ext>
              </a:extLst>
            </p:cNvPr>
            <p:cNvGrpSpPr/>
            <p:nvPr/>
          </p:nvGrpSpPr>
          <p:grpSpPr>
            <a:xfrm>
              <a:off x="1488209" y="2684192"/>
              <a:ext cx="1350962" cy="161925"/>
              <a:chOff x="2137433" y="2556176"/>
              <a:chExt cx="1350962" cy="161925"/>
            </a:xfrm>
          </p:grpSpPr>
          <p:sp>
            <p:nvSpPr>
              <p:cNvPr id="45" name="Rectangle 145" descr="type=input">
                <a:extLst>
                  <a:ext uri="{FF2B5EF4-FFF2-40B4-BE49-F238E27FC236}">
                    <a16:creationId xmlns:a16="http://schemas.microsoft.com/office/drawing/2014/main" id="{656EB3F1-1F85-4AF9-8651-C7F990EEF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7433" y="2556176"/>
                <a:ext cx="1350962" cy="1619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36000" rIns="36000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</a:p>
            </p:txBody>
          </p:sp>
          <p:pic>
            <p:nvPicPr>
              <p:cNvPr id="46" name="Picture 188">
                <a:extLst>
                  <a:ext uri="{FF2B5EF4-FFF2-40B4-BE49-F238E27FC236}">
                    <a16:creationId xmlns:a16="http://schemas.microsoft.com/office/drawing/2014/main" id="{8DC6B898-D7AD-4131-955D-845E0EFC80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4882" y="2573326"/>
                <a:ext cx="142875" cy="133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4" name="Rectangle 8">
              <a:extLst>
                <a:ext uri="{FF2B5EF4-FFF2-40B4-BE49-F238E27FC236}">
                  <a16:creationId xmlns:a16="http://schemas.microsoft.com/office/drawing/2014/main" id="{5931CB3B-541C-41CF-9F40-6F7001C42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120" y="2703599"/>
              <a:ext cx="410369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접수일자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E8E4F6D-E0E9-4474-B2BF-579474FDFEAA}"/>
              </a:ext>
            </a:extLst>
          </p:cNvPr>
          <p:cNvGrpSpPr/>
          <p:nvPr/>
        </p:nvGrpSpPr>
        <p:grpSpPr>
          <a:xfrm>
            <a:off x="2898795" y="1458727"/>
            <a:ext cx="1643540" cy="195814"/>
            <a:chOff x="570158" y="1424985"/>
            <a:chExt cx="1643540" cy="195814"/>
          </a:xfrm>
        </p:grpSpPr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1C35BAA5-724F-41E9-BE59-806C1D29F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58" y="1424985"/>
              <a:ext cx="483072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연구분류</a:t>
              </a:r>
            </a:p>
          </p:txBody>
        </p:sp>
        <p:sp>
          <p:nvSpPr>
            <p:cNvPr id="50" name="Rectangle 9">
              <a:extLst>
                <a:ext uri="{FF2B5EF4-FFF2-40B4-BE49-F238E27FC236}">
                  <a16:creationId xmlns:a16="http://schemas.microsoft.com/office/drawing/2014/main" id="{D5308F30-2F84-4F78-B72E-5A22084DB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6" y="1437492"/>
              <a:ext cx="978504" cy="1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RP010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A5F04962-3CCB-4065-8AC2-74BBB8FF0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000" y="1437492"/>
              <a:ext cx="178698" cy="1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9pPr>
            </a:lstStyle>
            <a:p>
              <a:pPr algn="ctr" eaLnBrk="1" hangingPunct="1"/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85C62FE-1A3B-4CB4-80B9-7D904785C345}"/>
              </a:ext>
            </a:extLst>
          </p:cNvPr>
          <p:cNvGrpSpPr/>
          <p:nvPr/>
        </p:nvGrpSpPr>
        <p:grpSpPr>
          <a:xfrm>
            <a:off x="631115" y="1458727"/>
            <a:ext cx="1643540" cy="195814"/>
            <a:chOff x="570158" y="1424985"/>
            <a:chExt cx="1643540" cy="195814"/>
          </a:xfrm>
        </p:grpSpPr>
        <p:sp>
          <p:nvSpPr>
            <p:cNvPr id="53" name="Rectangle 8">
              <a:extLst>
                <a:ext uri="{FF2B5EF4-FFF2-40B4-BE49-F238E27FC236}">
                  <a16:creationId xmlns:a16="http://schemas.microsoft.com/office/drawing/2014/main" id="{8E5A3C47-1698-41BE-80B7-1E2B1B1F5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58" y="1424985"/>
              <a:ext cx="483072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대상년도</a:t>
              </a:r>
              <a:endPara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Rectangle 9">
              <a:extLst>
                <a:ext uri="{FF2B5EF4-FFF2-40B4-BE49-F238E27FC236}">
                  <a16:creationId xmlns:a16="http://schemas.microsoft.com/office/drawing/2014/main" id="{4FAEA6DB-D524-44B2-BC0C-005E5F290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6" y="1437492"/>
              <a:ext cx="978504" cy="1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RP350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Rectangle 17">
              <a:extLst>
                <a:ext uri="{FF2B5EF4-FFF2-40B4-BE49-F238E27FC236}">
                  <a16:creationId xmlns:a16="http://schemas.microsoft.com/office/drawing/2014/main" id="{3C6A399D-D05E-4990-8B98-A61D9FD37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000" y="1437492"/>
              <a:ext cx="178698" cy="1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9pPr>
            </a:lstStyle>
            <a:p>
              <a:pPr algn="ctr" eaLnBrk="1" hangingPunct="1"/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6A1CB08-AB1C-45BF-8E00-D8330A802DD2}"/>
              </a:ext>
            </a:extLst>
          </p:cNvPr>
          <p:cNvGrpSpPr/>
          <p:nvPr/>
        </p:nvGrpSpPr>
        <p:grpSpPr>
          <a:xfrm>
            <a:off x="5182637" y="1458727"/>
            <a:ext cx="1643540" cy="195814"/>
            <a:chOff x="570158" y="1424985"/>
            <a:chExt cx="1643540" cy="195814"/>
          </a:xfrm>
        </p:grpSpPr>
        <p:sp>
          <p:nvSpPr>
            <p:cNvPr id="60" name="Rectangle 8">
              <a:extLst>
                <a:ext uri="{FF2B5EF4-FFF2-40B4-BE49-F238E27FC236}">
                  <a16:creationId xmlns:a16="http://schemas.microsoft.com/office/drawing/2014/main" id="{1BF2BCD8-5353-4DE1-9494-ED490D2B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58" y="1424985"/>
              <a:ext cx="483072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연구유형</a:t>
              </a:r>
            </a:p>
          </p:txBody>
        </p:sp>
        <p:sp>
          <p:nvSpPr>
            <p:cNvPr id="61" name="Rectangle 9">
              <a:extLst>
                <a:ext uri="{FF2B5EF4-FFF2-40B4-BE49-F238E27FC236}">
                  <a16:creationId xmlns:a16="http://schemas.microsoft.com/office/drawing/2014/main" id="{87AA78B4-6196-4C05-B3E7-A67CB42F5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6" y="1437492"/>
              <a:ext cx="978504" cy="1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RP020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Rectangle 17">
              <a:extLst>
                <a:ext uri="{FF2B5EF4-FFF2-40B4-BE49-F238E27FC236}">
                  <a16:creationId xmlns:a16="http://schemas.microsoft.com/office/drawing/2014/main" id="{051199B1-5985-4302-9E48-7752DF88B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000" y="1437492"/>
              <a:ext cx="178698" cy="1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9pPr>
            </a:lstStyle>
            <a:p>
              <a:pPr algn="ctr" eaLnBrk="1" hangingPunct="1"/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F6B5477-7C3B-4F51-9964-7E0639E954C8}"/>
              </a:ext>
            </a:extLst>
          </p:cNvPr>
          <p:cNvGrpSpPr/>
          <p:nvPr/>
        </p:nvGrpSpPr>
        <p:grpSpPr>
          <a:xfrm>
            <a:off x="7210462" y="1475634"/>
            <a:ext cx="4200488" cy="162000"/>
            <a:chOff x="526965" y="1412682"/>
            <a:chExt cx="4200488" cy="162000"/>
          </a:xfrm>
        </p:grpSpPr>
        <p:sp>
          <p:nvSpPr>
            <p:cNvPr id="65" name="Rectangle 167" descr="type=input">
              <a:extLst>
                <a:ext uri="{FF2B5EF4-FFF2-40B4-BE49-F238E27FC236}">
                  <a16:creationId xmlns:a16="http://schemas.microsoft.com/office/drawing/2014/main" id="{42BB840B-2EBC-496B-B476-2E0113C23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45" y="1412682"/>
              <a:ext cx="3641808" cy="1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ctr"/>
            <a:lstStyle/>
            <a:p>
              <a:endPara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A22885D8-9D52-4F5C-B4D5-DA255722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965" y="1432127"/>
              <a:ext cx="512961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연구과제명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1E44E918-5C84-49FD-9049-53ADCFC22824}"/>
              </a:ext>
            </a:extLst>
          </p:cNvPr>
          <p:cNvGrpSpPr/>
          <p:nvPr/>
        </p:nvGrpSpPr>
        <p:grpSpPr>
          <a:xfrm>
            <a:off x="631115" y="1859124"/>
            <a:ext cx="1643539" cy="195814"/>
            <a:chOff x="570159" y="1424985"/>
            <a:chExt cx="1643539" cy="195814"/>
          </a:xfrm>
        </p:grpSpPr>
        <p:sp>
          <p:nvSpPr>
            <p:cNvPr id="68" name="Rectangle 8">
              <a:extLst>
                <a:ext uri="{FF2B5EF4-FFF2-40B4-BE49-F238E27FC236}">
                  <a16:creationId xmlns:a16="http://schemas.microsoft.com/office/drawing/2014/main" id="{EEF15514-A92F-49A3-B11E-FF3B90573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59" y="1424985"/>
              <a:ext cx="483072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진행상태</a:t>
              </a:r>
            </a:p>
          </p:txBody>
        </p:sp>
        <p:sp>
          <p:nvSpPr>
            <p:cNvPr id="69" name="Rectangle 9">
              <a:extLst>
                <a:ext uri="{FF2B5EF4-FFF2-40B4-BE49-F238E27FC236}">
                  <a16:creationId xmlns:a16="http://schemas.microsoft.com/office/drawing/2014/main" id="{9B8FF081-525F-427A-A340-F3C0E0C88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6" y="1437492"/>
              <a:ext cx="978504" cy="162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RP070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Rectangle 17">
              <a:extLst>
                <a:ext uri="{FF2B5EF4-FFF2-40B4-BE49-F238E27FC236}">
                  <a16:creationId xmlns:a16="http://schemas.microsoft.com/office/drawing/2014/main" id="{F482A3A2-9CE3-4B7B-805B-AE9DC1BB9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5000" y="1437492"/>
              <a:ext cx="178698" cy="162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1pPr>
              <a:lvl2pPr marL="742950" indent="-28575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2pPr>
              <a:lvl3pPr marL="11430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3pPr>
              <a:lvl4pPr marL="16002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4pPr>
              <a:lvl5pPr marL="2057400" indent="-228600" eaLnBrk="0" hangingPunct="0"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체" panose="020B0609000101010101" pitchFamily="49" charset="-127"/>
                  <a:ea typeface="굴림체" panose="020B0609000101010101" pitchFamily="49" charset="-127"/>
                  <a:sym typeface="Wingdings" panose="05000000000000000000" pitchFamily="2" charset="2"/>
                </a:defRPr>
              </a:lvl9pPr>
            </a:lstStyle>
            <a:p>
              <a:pPr algn="ctr" eaLnBrk="1" hangingPunct="1"/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</a:p>
          </p:txBody>
        </p:sp>
      </p:grp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AF787130-6DDC-44A4-9A2D-CDAC875255E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624562" y="2484863"/>
          <a:ext cx="3072138" cy="34773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240">
                  <a:extLst>
                    <a:ext uri="{9D8B030D-6E8A-4147-A177-3AD203B41FA5}">
                      <a16:colId xmlns:a16="http://schemas.microsoft.com/office/drawing/2014/main" val="1467578582"/>
                    </a:ext>
                  </a:extLst>
                </a:gridCol>
                <a:gridCol w="1983898">
                  <a:extLst>
                    <a:ext uri="{9D8B030D-6E8A-4147-A177-3AD203B41FA5}">
                      <a16:colId xmlns:a16="http://schemas.microsoft.com/office/drawing/2014/main" val="388024351"/>
                    </a:ext>
                  </a:extLst>
                </a:gridCol>
              </a:tblGrid>
              <a:tr h="193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검토결과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김철수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불채택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9778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9572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4692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8109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5823524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5845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8329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03747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05615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65161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343804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5871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12035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16511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269243"/>
                  </a:ext>
                </a:extLst>
              </a:tr>
            </a:tbl>
          </a:graphicData>
        </a:graphic>
      </p:graphicFrame>
      <p:sp>
        <p:nvSpPr>
          <p:cNvPr id="75" name="Rectangle 35">
            <a:extLst>
              <a:ext uri="{FF2B5EF4-FFF2-40B4-BE49-F238E27FC236}">
                <a16:creationId xmlns:a16="http://schemas.microsoft.com/office/drawing/2014/main" id="{06F6F535-5895-47B0-A4E6-BEC121209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4790" y="2243138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 대상자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1332A3AF-1343-48CF-B020-3CD0646DA76B}"/>
              </a:ext>
            </a:extLst>
          </p:cNvPr>
          <p:cNvSpPr/>
          <p:nvPr/>
        </p:nvSpPr>
        <p:spPr bwMode="auto">
          <a:xfrm>
            <a:off x="12292379" y="-7281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사전검토마스터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연구과제마스터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연구과제마스터의 진행상태가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RP040020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인경우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신규 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SEB011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로 이동</a:t>
            </a:r>
            <a:endParaRPr kumimoji="1" lang="en-US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그리드에서 체크된 레코드 삭제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사전검토마스터 진행상태가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RP070030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삭제 불가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알림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929988E-EAB1-4564-905A-818945358CB2}"/>
              </a:ext>
            </a:extLst>
          </p:cNvPr>
          <p:cNvSpPr/>
          <p:nvPr/>
        </p:nvSpPr>
        <p:spPr bwMode="auto">
          <a:xfrm>
            <a:off x="12292378" y="1197245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그리드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사전검토목록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SEB011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이동 후 인풋폼에 선택한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ROW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데이터 입력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RP070030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경우 모든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인풋폼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readonly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검토자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사전검토에 연결된 사전검토의견서들의 검토대상자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종합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중복제외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채택결과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사전검토에 연결된 사전검토의견서들의 채택결과를 종합하여 </a:t>
            </a:r>
            <a:r>
              <a:rPr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불채택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(1), </a:t>
            </a:r>
            <a:r>
              <a:rPr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조건부채택</a:t>
            </a:r>
            <a:r>
              <a:rPr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같이 표시</a:t>
            </a:r>
            <a:endParaRPr kumimoji="1" lang="en-US" altLang="ko-KR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대상자 그리드가 갱신된다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kumimoji="1"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사건검토의견서마스터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테이블 이용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그리드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검토대상자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더블클릭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선택한 검토자의 의견서를 볼 수 있는 </a:t>
            </a:r>
            <a:r>
              <a:rPr kumimoji="1" lang="en-US" altLang="ko-KR" sz="800" dirty="0">
                <a:latin typeface="맑은 고딕" pitchFamily="50" charset="-127"/>
                <a:ea typeface="맑은 고딕" pitchFamily="50" charset="-127"/>
              </a:rPr>
              <a:t>SEB012 </a:t>
            </a:r>
            <a:r>
              <a:rPr kumimoji="1" lang="ko-KR" altLang="en-US" sz="800" dirty="0">
                <a:latin typeface="맑은 고딕" pitchFamily="50" charset="-127"/>
                <a:ea typeface="맑은 고딕" pitchFamily="50" charset="-127"/>
              </a:rPr>
              <a:t>화면으로 이동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2E39046-E6AE-4419-BE1A-ECFA93BF3072}"/>
              </a:ext>
            </a:extLst>
          </p:cNvPr>
          <p:cNvSpPr/>
          <p:nvPr/>
        </p:nvSpPr>
        <p:spPr bwMode="auto">
          <a:xfrm>
            <a:off x="12292378" y="2401771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사전검토의견서마스터에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아래 내용의 트리거 생성 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(SQL 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사전검토의견서마스터의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채택결과 등록 시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사전검토가 사전검토완료 상태가 아닌 경우 사전검토에 물린 의견서를 확인하고 채택결과가 모두 등록되었다면 해당 일자를 사전검토마스터의 의견서작성일에 넣어준다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그리고 사전검토마스터의 진행상태를 </a:t>
            </a:r>
            <a:r>
              <a:rPr kumimoji="1" lang="ko-KR" altLang="en-US" sz="8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사전검토완료으로</a:t>
            </a:r>
            <a:r>
              <a:rPr kumimoji="1" lang="ko-KR" altLang="en-US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바꾼다</a:t>
            </a:r>
            <a:r>
              <a:rPr kumimoji="1" lang="en-US" altLang="ko-KR" sz="8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en-US" altLang="ko-KR" sz="8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384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Box 3"/>
          <p:cNvSpPr txBox="1">
            <a:spLocks noChangeArrowheads="1"/>
          </p:cNvSpPr>
          <p:nvPr/>
        </p:nvSpPr>
        <p:spPr bwMode="auto">
          <a:xfrm>
            <a:off x="515938" y="703034"/>
            <a:ext cx="1796251" cy="2573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36000" tIns="36000" rIns="36000" bIns="36000">
            <a:spAutoFit/>
          </a:bodyPr>
          <a:lstStyle/>
          <a:p>
            <a:pPr latinLnBrk="0">
              <a:defRPr/>
            </a:pPr>
            <a:r>
              <a:rPr lang="en-US" altLang="ko-KR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화면개요 및 레이아웃</a:t>
            </a:r>
            <a:endParaRPr lang="en-US" altLang="ko-KR" sz="12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21" name="Group 403"/>
          <p:cNvGraphicFramePr>
            <a:graphicFrameLocks noGrp="1"/>
          </p:cNvGraphicFramePr>
          <p:nvPr>
            <p:extLst/>
          </p:nvPr>
        </p:nvGraphicFramePr>
        <p:xfrm>
          <a:off x="2532715" y="717569"/>
          <a:ext cx="9143348" cy="216024"/>
        </p:xfrm>
        <a:graphic>
          <a:graphicData uri="http://schemas.openxmlformats.org/drawingml/2006/table">
            <a:tbl>
              <a:tblPr/>
              <a:tblGrid>
                <a:gridCol w="126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사전검토관리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사전검토등록</a:t>
                      </a: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Group 403">
            <a:extLst>
              <a:ext uri="{FF2B5EF4-FFF2-40B4-BE49-F238E27FC236}">
                <a16:creationId xmlns:a16="http://schemas.microsoft.com/office/drawing/2014/main" id="{D02C8320-8418-4587-AF86-9AADA7EE76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8" y="164376"/>
          <a:ext cx="11160125" cy="448800"/>
        </p:xfrm>
        <a:graphic>
          <a:graphicData uri="http://schemas.openxmlformats.org/drawingml/2006/table">
            <a:tbl>
              <a:tblPr/>
              <a:tblGrid>
                <a:gridCol w="1483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6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</a:t>
                      </a: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연구과제선정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사전검토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SEB011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사전검토관리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(TAB)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사전검토등록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AS-IS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0" name="직선 연결선 10">
            <a:extLst>
              <a:ext uri="{FF2B5EF4-FFF2-40B4-BE49-F238E27FC236}">
                <a16:creationId xmlns:a16="http://schemas.microsoft.com/office/drawing/2014/main" id="{FDD1C8AC-672D-49EE-AA97-D0C8EFA6C7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9695" y="1246048"/>
            <a:ext cx="11158185" cy="1043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Rectangle 35">
            <a:extLst>
              <a:ext uri="{FF2B5EF4-FFF2-40B4-BE49-F238E27FC236}">
                <a16:creationId xmlns:a16="http://schemas.microsoft.com/office/drawing/2014/main" id="{B9FFF93B-9AD2-4C0F-8281-6C05551B1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80" y="1011099"/>
            <a:ext cx="1441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사전검토등록</a:t>
            </a:r>
          </a:p>
        </p:txBody>
      </p:sp>
      <p:sp>
        <p:nvSpPr>
          <p:cNvPr id="52" name="Rectangle 244">
            <a:extLst>
              <a:ext uri="{FF2B5EF4-FFF2-40B4-BE49-F238E27FC236}">
                <a16:creationId xmlns:a16="http://schemas.microsoft.com/office/drawing/2014/main" id="{FC878A68-547D-4273-BF54-289149E1D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5483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삭제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6627260-CB0F-4035-B3F6-A53FC39F0318}"/>
              </a:ext>
            </a:extLst>
          </p:cNvPr>
          <p:cNvGrpSpPr/>
          <p:nvPr/>
        </p:nvGrpSpPr>
        <p:grpSpPr>
          <a:xfrm>
            <a:off x="706585" y="1704628"/>
            <a:ext cx="4321376" cy="149574"/>
            <a:chOff x="7151144" y="3788746"/>
            <a:chExt cx="4321376" cy="149574"/>
          </a:xfrm>
        </p:grpSpPr>
        <p:sp>
          <p:nvSpPr>
            <p:cNvPr id="54" name="Rectangle 145" descr="type=input">
              <a:extLst>
                <a:ext uri="{FF2B5EF4-FFF2-40B4-BE49-F238E27FC236}">
                  <a16:creationId xmlns:a16="http://schemas.microsoft.com/office/drawing/2014/main" id="{10ECDF60-FEC9-4F7F-B086-0D61ED391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3106" y="3788746"/>
              <a:ext cx="3719414" cy="1495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체육시설 현황분석 및 확충방안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Rectangle 8">
              <a:extLst>
                <a:ext uri="{FF2B5EF4-FFF2-40B4-BE49-F238E27FC236}">
                  <a16:creationId xmlns:a16="http://schemas.microsoft.com/office/drawing/2014/main" id="{3D1916F2-5E19-4156-994D-AE20C08AD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1144" y="3802636"/>
              <a:ext cx="556243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연구과제명</a:t>
              </a:r>
            </a:p>
          </p:txBody>
        </p:sp>
      </p:grp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C7323B94-83E1-4016-AA84-CD744C09489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6" y="2447671"/>
          <a:ext cx="11141521" cy="3707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801">
                  <a:extLst>
                    <a:ext uri="{9D8B030D-6E8A-4147-A177-3AD203B41FA5}">
                      <a16:colId xmlns:a16="http://schemas.microsoft.com/office/drawing/2014/main" val="2301107369"/>
                    </a:ext>
                  </a:extLst>
                </a:gridCol>
                <a:gridCol w="2686601">
                  <a:extLst>
                    <a:ext uri="{9D8B030D-6E8A-4147-A177-3AD203B41FA5}">
                      <a16:colId xmlns:a16="http://schemas.microsoft.com/office/drawing/2014/main" val="1467578582"/>
                    </a:ext>
                  </a:extLst>
                </a:gridCol>
                <a:gridCol w="2490289">
                  <a:extLst>
                    <a:ext uri="{9D8B030D-6E8A-4147-A177-3AD203B41FA5}">
                      <a16:colId xmlns:a16="http://schemas.microsoft.com/office/drawing/2014/main" val="2002539444"/>
                    </a:ext>
                  </a:extLst>
                </a:gridCol>
                <a:gridCol w="2865174">
                  <a:extLst>
                    <a:ext uri="{9D8B030D-6E8A-4147-A177-3AD203B41FA5}">
                      <a16:colId xmlns:a16="http://schemas.microsoft.com/office/drawing/2014/main" val="1585597498"/>
                    </a:ext>
                  </a:extLst>
                </a:gridCol>
                <a:gridCol w="2739656">
                  <a:extLst>
                    <a:ext uri="{9D8B030D-6E8A-4147-A177-3AD203B41FA5}">
                      <a16:colId xmlns:a16="http://schemas.microsoft.com/office/drawing/2014/main" val="3944710086"/>
                    </a:ext>
                  </a:extLst>
                </a:gridCol>
              </a:tblGrid>
              <a:tr h="193025">
                <a:tc>
                  <a:txBody>
                    <a:bodyPr/>
                    <a:lstStyle/>
                    <a:p>
                      <a:pPr algn="ctr" latinLnBrk="1"/>
                      <a:endParaRPr lang="ko-KR" altLang="en-US" sz="7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성명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직급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직책</a:t>
                      </a:r>
                    </a:p>
                  </a:txBody>
                  <a:tcPr marL="36000" marR="36000" marT="45725" marB="457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선임연구위원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연구부장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미래전략연구실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부연구위원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도청센터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연구위원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9778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홍길동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미래전략연구실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부연구위원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9572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4692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81090"/>
                  </a:ext>
                </a:extLst>
              </a:tr>
              <a:tr h="229899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327259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277987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241534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561989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924551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445923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6710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661235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643041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854506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383349"/>
                  </a:ext>
                </a:extLst>
              </a:tr>
              <a:tr h="192898"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6341"/>
                  </a:ext>
                </a:extLst>
              </a:tr>
            </a:tbl>
          </a:graphicData>
        </a:graphic>
      </p:graphicFrame>
      <p:sp>
        <p:nvSpPr>
          <p:cNvPr id="58" name="Rectangle 35">
            <a:extLst>
              <a:ext uri="{FF2B5EF4-FFF2-40B4-BE49-F238E27FC236}">
                <a16:creationId xmlns:a16="http://schemas.microsoft.com/office/drawing/2014/main" id="{2E01559D-6086-4FEE-8077-3361C62B9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426" y="1292096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Rectangle 35">
            <a:extLst>
              <a:ext uri="{FF2B5EF4-FFF2-40B4-BE49-F238E27FC236}">
                <a16:creationId xmlns:a16="http://schemas.microsoft.com/office/drawing/2014/main" id="{1A022391-F5A4-4798-A593-F856724A1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" y="2162076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 대상자 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B9CCCD5-CCCA-4C8B-925D-05CA831D4A62}"/>
              </a:ext>
            </a:extLst>
          </p:cNvPr>
          <p:cNvSpPr/>
          <p:nvPr/>
        </p:nvSpPr>
        <p:spPr>
          <a:xfrm>
            <a:off x="612382" y="2690055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D7151D4-09FE-47FC-A32B-A84110349545}"/>
              </a:ext>
            </a:extLst>
          </p:cNvPr>
          <p:cNvSpPr/>
          <p:nvPr/>
        </p:nvSpPr>
        <p:spPr>
          <a:xfrm>
            <a:off x="612382" y="2890837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81B69E4-EA12-47A8-B498-A5EE150FB887}"/>
              </a:ext>
            </a:extLst>
          </p:cNvPr>
          <p:cNvSpPr/>
          <p:nvPr/>
        </p:nvSpPr>
        <p:spPr>
          <a:xfrm>
            <a:off x="612382" y="3078325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√</a:t>
            </a:r>
          </a:p>
        </p:txBody>
      </p:sp>
      <p:sp>
        <p:nvSpPr>
          <p:cNvPr id="63" name="Rectangle 244">
            <a:extLst>
              <a:ext uri="{FF2B5EF4-FFF2-40B4-BE49-F238E27FC236}">
                <a16:creationId xmlns:a16="http://schemas.microsoft.com/office/drawing/2014/main" id="{6DE8B4D0-AD31-48D0-9974-4B90ADDD4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682" y="1015617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저장</a:t>
            </a:r>
          </a:p>
        </p:txBody>
      </p:sp>
      <p:pic>
        <p:nvPicPr>
          <p:cNvPr id="65" name="Picture 42" descr="111">
            <a:extLst>
              <a:ext uri="{FF2B5EF4-FFF2-40B4-BE49-F238E27FC236}">
                <a16:creationId xmlns:a16="http://schemas.microsoft.com/office/drawing/2014/main" id="{3B85AAB9-876E-481F-B5C5-19B80C2B1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57" y="2664616"/>
            <a:ext cx="162000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42" descr="111">
            <a:extLst>
              <a:ext uri="{FF2B5EF4-FFF2-40B4-BE49-F238E27FC236}">
                <a16:creationId xmlns:a16="http://schemas.microsoft.com/office/drawing/2014/main" id="{3632667B-4DBF-40DC-9EE0-AAC7DE723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57" y="2857487"/>
            <a:ext cx="162000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42" descr="111">
            <a:extLst>
              <a:ext uri="{FF2B5EF4-FFF2-40B4-BE49-F238E27FC236}">
                <a16:creationId xmlns:a16="http://schemas.microsoft.com/office/drawing/2014/main" id="{A70C2491-38C8-4519-89CF-794F38DA0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57" y="3044008"/>
            <a:ext cx="162000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96753B41-1A91-4293-94AD-A49B8FB7EF70}"/>
              </a:ext>
            </a:extLst>
          </p:cNvPr>
          <p:cNvSpPr/>
          <p:nvPr/>
        </p:nvSpPr>
        <p:spPr>
          <a:xfrm>
            <a:off x="612382" y="2487937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√</a:t>
            </a:r>
          </a:p>
        </p:txBody>
      </p:sp>
      <p:sp>
        <p:nvSpPr>
          <p:cNvPr id="69" name="Rectangle 244">
            <a:extLst>
              <a:ext uri="{FF2B5EF4-FFF2-40B4-BE49-F238E27FC236}">
                <a16:creationId xmlns:a16="http://schemas.microsoft.com/office/drawing/2014/main" id="{4BFEB1AF-C801-4672-8677-DCB723BB1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7881" y="1015617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닫기</a:t>
            </a:r>
          </a:p>
        </p:txBody>
      </p:sp>
      <p:pic>
        <p:nvPicPr>
          <p:cNvPr id="71" name="Picture 42" descr="111">
            <a:extLst>
              <a:ext uri="{FF2B5EF4-FFF2-40B4-BE49-F238E27FC236}">
                <a16:creationId xmlns:a16="http://schemas.microsoft.com/office/drawing/2014/main" id="{DCCFEEF1-5BB0-43B4-A9CD-7CDF8E2E3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457" y="3238739"/>
            <a:ext cx="162000" cy="1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8F70C41C-0A5C-4D1D-9E8C-5BBC10377E3A}"/>
              </a:ext>
            </a:extLst>
          </p:cNvPr>
          <p:cNvSpPr/>
          <p:nvPr/>
        </p:nvSpPr>
        <p:spPr>
          <a:xfrm>
            <a:off x="612382" y="3253028"/>
            <a:ext cx="108000" cy="1080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√</a:t>
            </a:r>
          </a:p>
        </p:txBody>
      </p:sp>
      <p:sp>
        <p:nvSpPr>
          <p:cNvPr id="91" name="직사각형 14">
            <a:extLst>
              <a:ext uri="{FF2B5EF4-FFF2-40B4-BE49-F238E27FC236}">
                <a16:creationId xmlns:a16="http://schemas.microsoft.com/office/drawing/2014/main" id="{3F2B7B0A-AE8C-4FF2-B725-EAA12C9D0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53" y="1534941"/>
            <a:ext cx="11117005" cy="5111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Rectangle 17">
            <a:extLst>
              <a:ext uri="{FF2B5EF4-FFF2-40B4-BE49-F238E27FC236}">
                <a16:creationId xmlns:a16="http://schemas.microsoft.com/office/drawing/2014/main" id="{03CB3FC4-ADFB-452A-A3E2-AFE4CA094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168" y="1702997"/>
            <a:ext cx="171078" cy="15648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9pPr>
          </a:lstStyle>
          <a:p>
            <a:pPr algn="ctr" ea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7" name="Rectangle 244">
            <a:extLst>
              <a:ext uri="{FF2B5EF4-FFF2-40B4-BE49-F238E27FC236}">
                <a16:creationId xmlns:a16="http://schemas.microsoft.com/office/drawing/2014/main" id="{DDF12487-6EFF-4C6B-9B2B-D45F209BA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1236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알림 </a:t>
            </a: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019E0E83-6F1C-446F-838C-5C0E3FCFCB63}"/>
              </a:ext>
            </a:extLst>
          </p:cNvPr>
          <p:cNvGrpSpPr/>
          <p:nvPr/>
        </p:nvGrpSpPr>
        <p:grpSpPr>
          <a:xfrm>
            <a:off x="5487569" y="1702997"/>
            <a:ext cx="1850332" cy="161925"/>
            <a:chOff x="988839" y="2684192"/>
            <a:chExt cx="1850332" cy="161925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FF8C9A21-4C5F-4024-BAFD-259BFE8E0E4F}"/>
                </a:ext>
              </a:extLst>
            </p:cNvPr>
            <p:cNvGrpSpPr/>
            <p:nvPr/>
          </p:nvGrpSpPr>
          <p:grpSpPr>
            <a:xfrm>
              <a:off x="1488209" y="2684192"/>
              <a:ext cx="1350962" cy="161925"/>
              <a:chOff x="2137433" y="2556176"/>
              <a:chExt cx="1350962" cy="161925"/>
            </a:xfrm>
          </p:grpSpPr>
          <p:sp>
            <p:nvSpPr>
              <p:cNvPr id="74" name="Rectangle 145" descr="type=input">
                <a:extLst>
                  <a:ext uri="{FF2B5EF4-FFF2-40B4-BE49-F238E27FC236}">
                    <a16:creationId xmlns:a16="http://schemas.microsoft.com/office/drawing/2014/main" id="{2831F7AF-7154-4FDA-9634-059182302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7433" y="2556176"/>
                <a:ext cx="1350962" cy="1619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36000" rIns="36000" anchor="ctr"/>
              <a:lstStyle>
                <a:lvl1pPr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~</a:t>
                </a:r>
              </a:p>
            </p:txBody>
          </p:sp>
          <p:pic>
            <p:nvPicPr>
              <p:cNvPr id="77" name="Picture 188">
                <a:extLst>
                  <a:ext uri="{FF2B5EF4-FFF2-40B4-BE49-F238E27FC236}">
                    <a16:creationId xmlns:a16="http://schemas.microsoft.com/office/drawing/2014/main" id="{A23C2BA6-3C41-4E45-8664-F259A75227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24882" y="2573326"/>
                <a:ext cx="142875" cy="133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012E6C91-CC81-4686-972B-513E66F26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39" y="2703599"/>
              <a:ext cx="453650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*검토기간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2033104-364B-4014-9235-D82246C46859}"/>
              </a:ext>
            </a:extLst>
          </p:cNvPr>
          <p:cNvSpPr/>
          <p:nvPr/>
        </p:nvSpPr>
        <p:spPr bwMode="auto">
          <a:xfrm>
            <a:off x="12288840" y="-2650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인풋폼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연구과제명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커스텀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코드헬프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구현 필요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 시 연구과제명으로 입력해서 조회한다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모달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창에서 조회 영역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대상년도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연구분류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연구유형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연구과제명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결국엔 내부적으론 연구과제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ID(+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기타데이터포함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외부적으론 연구과제명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코드 컴포넌트에 연구과제명 표출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표시되어야 한다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8A2C04A-D8D7-4B4C-AD2F-80FEC45EB136}"/>
              </a:ext>
            </a:extLst>
          </p:cNvPr>
          <p:cNvSpPr/>
          <p:nvPr/>
        </p:nvSpPr>
        <p:spPr bwMode="auto">
          <a:xfrm>
            <a:off x="12288840" y="1195004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저장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사전검토마스터 데이터 생성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사전검토마스터 진행상태가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RP070030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저장 불가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알림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정보 삭제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사전검토마스터 진행상태가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RP070030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삭제 불가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알림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알림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API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연동 필요해서 구현 보류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FEF2CB2-3BD1-473C-940E-7EEC4F8375D6}"/>
              </a:ext>
            </a:extLst>
          </p:cNvPr>
          <p:cNvSpPr/>
          <p:nvPr/>
        </p:nvSpPr>
        <p:spPr bwMode="auto">
          <a:xfrm>
            <a:off x="12288839" y="2408404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그리드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성명으로 유저 정보를 선택하면 부서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직급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직책이 자동으로 입력되어야 한다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012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Box 3"/>
          <p:cNvSpPr txBox="1">
            <a:spLocks noChangeArrowheads="1"/>
          </p:cNvSpPr>
          <p:nvPr/>
        </p:nvSpPr>
        <p:spPr bwMode="auto">
          <a:xfrm>
            <a:off x="515938" y="703034"/>
            <a:ext cx="1796251" cy="25736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lIns="36000" tIns="36000" rIns="36000" bIns="36000">
            <a:spAutoFit/>
          </a:bodyPr>
          <a:lstStyle/>
          <a:p>
            <a:pPr latinLnBrk="0">
              <a:defRPr/>
            </a:pPr>
            <a:r>
              <a:rPr lang="en-US" altLang="ko-KR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200" b="1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화면개요 및 레이아웃</a:t>
            </a:r>
            <a:endParaRPr lang="en-US" altLang="ko-KR" sz="1200" b="1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21" name="Group 403"/>
          <p:cNvGraphicFramePr>
            <a:graphicFrameLocks noGrp="1"/>
          </p:cNvGraphicFramePr>
          <p:nvPr>
            <p:extLst/>
          </p:nvPr>
        </p:nvGraphicFramePr>
        <p:xfrm>
          <a:off x="2532715" y="717569"/>
          <a:ext cx="9143348" cy="216024"/>
        </p:xfrm>
        <a:graphic>
          <a:graphicData uri="http://schemas.openxmlformats.org/drawingml/2006/table">
            <a:tbl>
              <a:tblPr/>
              <a:tblGrid>
                <a:gridCol w="126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9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사전검토관리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사전검토의견서등록내용</a:t>
                      </a:r>
                      <a:endParaRPr kumimoji="1" lang="ko-KR" altLang="en-US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5" name="직선 연결선 10"/>
          <p:cNvCxnSpPr>
            <a:cxnSpLocks noChangeShapeType="1"/>
          </p:cNvCxnSpPr>
          <p:nvPr/>
        </p:nvCxnSpPr>
        <p:spPr bwMode="auto">
          <a:xfrm flipV="1">
            <a:off x="519695" y="1246048"/>
            <a:ext cx="11158185" cy="1043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2" name="Rectangle 35">
            <a:extLst>
              <a:ext uri="{FF2B5EF4-FFF2-40B4-BE49-F238E27FC236}">
                <a16:creationId xmlns:a16="http://schemas.microsoft.com/office/drawing/2014/main" id="{C64788A2-065D-40D9-B8A4-D70815CE6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80" y="1011099"/>
            <a:ext cx="1441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kumimoji="0"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사전검토의견서등록내용</a:t>
            </a:r>
            <a:endParaRPr kumimoji="0"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7" name="Group 403">
            <a:extLst>
              <a:ext uri="{FF2B5EF4-FFF2-40B4-BE49-F238E27FC236}">
                <a16:creationId xmlns:a16="http://schemas.microsoft.com/office/drawing/2014/main" id="{D02C8320-8418-4587-AF86-9AADA7EE76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8" y="164376"/>
          <a:ext cx="11160125" cy="448800"/>
        </p:xfrm>
        <a:graphic>
          <a:graphicData uri="http://schemas.openxmlformats.org/drawingml/2006/table">
            <a:tbl>
              <a:tblPr/>
              <a:tblGrid>
                <a:gridCol w="1483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61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68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업무구분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</a:t>
                      </a: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연구과제선정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사전검토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SEB012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프로그램명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사전검토관리</a:t>
                      </a:r>
                      <a:endParaRPr lang="en-US" altLang="ko-KR" sz="1000" b="0" i="0" u="none" strike="noStrik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(TAB)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사전검토의견서등록내용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AS-IS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사전검토의견서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(RP010103)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Rectangle 244">
            <a:extLst>
              <a:ext uri="{FF2B5EF4-FFF2-40B4-BE49-F238E27FC236}">
                <a16:creationId xmlns:a16="http://schemas.microsoft.com/office/drawing/2014/main" id="{E1639D65-D872-4E02-92E7-ADFB78945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4123" y="1017858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저장</a:t>
            </a:r>
          </a:p>
        </p:txBody>
      </p:sp>
      <p:sp>
        <p:nvSpPr>
          <p:cNvPr id="29" name="Rectangle 244">
            <a:extLst>
              <a:ext uri="{FF2B5EF4-FFF2-40B4-BE49-F238E27FC236}">
                <a16:creationId xmlns:a16="http://schemas.microsoft.com/office/drawing/2014/main" id="{03EA9A99-1837-4CE9-AD51-11A385726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6744" y="1015617"/>
            <a:ext cx="504825" cy="179387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algn="ctr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닫기</a:t>
            </a:r>
          </a:p>
        </p:txBody>
      </p:sp>
      <p:sp>
        <p:nvSpPr>
          <p:cNvPr id="21" name="직사각형 14">
            <a:extLst>
              <a:ext uri="{FF2B5EF4-FFF2-40B4-BE49-F238E27FC236}">
                <a16:creationId xmlns:a16="http://schemas.microsoft.com/office/drawing/2014/main" id="{501D1976-7E21-4542-9A08-17144FEEA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53" y="2861899"/>
            <a:ext cx="11117005" cy="368990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Rectangle 35">
            <a:extLst>
              <a:ext uri="{FF2B5EF4-FFF2-40B4-BE49-F238E27FC236}">
                <a16:creationId xmlns:a16="http://schemas.microsoft.com/office/drawing/2014/main" id="{1448C001-C8F9-4630-BC28-CBC57CE2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16" y="1314554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 내용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0CF10F01-DE6A-4996-BEAC-DDD3CAC02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651" y="3193706"/>
            <a:ext cx="7990454" cy="7200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2F57924E-330D-4CD3-9448-53381F0D2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651" y="4094813"/>
            <a:ext cx="7982065" cy="801148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936C3ECB-02AE-4E28-920D-453D20782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263" y="5038504"/>
            <a:ext cx="7990453" cy="72101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465CCD25-EEC6-4AA1-80DB-DF7A63944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1152" y="5112873"/>
            <a:ext cx="410369" cy="18700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종합의견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57CE188-A450-443E-AF79-3DC9AEA14483}"/>
              </a:ext>
            </a:extLst>
          </p:cNvPr>
          <p:cNvGrpSpPr/>
          <p:nvPr/>
        </p:nvGrpSpPr>
        <p:grpSpPr>
          <a:xfrm>
            <a:off x="3698876" y="5857386"/>
            <a:ext cx="1679093" cy="195814"/>
            <a:chOff x="530087" y="1408051"/>
            <a:chExt cx="1679093" cy="195814"/>
          </a:xfrm>
        </p:grpSpPr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B240F3E7-32FE-44DF-8EB8-0F810C53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87" y="1408051"/>
              <a:ext cx="523147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단독</a:t>
              </a:r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공동</a:t>
              </a:r>
            </a:p>
          </p:txBody>
        </p:sp>
        <p:sp>
          <p:nvSpPr>
            <p:cNvPr id="36" name="Rectangle 9">
              <a:extLst>
                <a:ext uri="{FF2B5EF4-FFF2-40B4-BE49-F238E27FC236}">
                  <a16:creationId xmlns:a16="http://schemas.microsoft.com/office/drawing/2014/main" id="{0BEB0EB0-D4C6-484C-A21E-9608B8CB0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5" y="1437492"/>
              <a:ext cx="1152685" cy="1328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단독          ▼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624B41D-B9BF-4B39-9769-7439307C623D}"/>
              </a:ext>
            </a:extLst>
          </p:cNvPr>
          <p:cNvGrpSpPr/>
          <p:nvPr/>
        </p:nvGrpSpPr>
        <p:grpSpPr>
          <a:xfrm>
            <a:off x="5807079" y="5857386"/>
            <a:ext cx="1679093" cy="195814"/>
            <a:chOff x="530087" y="1408051"/>
            <a:chExt cx="1679093" cy="195814"/>
          </a:xfrm>
        </p:grpSpPr>
        <p:sp>
          <p:nvSpPr>
            <p:cNvPr id="39" name="Rectangle 8">
              <a:extLst>
                <a:ext uri="{FF2B5EF4-FFF2-40B4-BE49-F238E27FC236}">
                  <a16:creationId xmlns:a16="http://schemas.microsoft.com/office/drawing/2014/main" id="{ED712D78-8D36-4E2E-85C9-748009A8A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87" y="1408051"/>
              <a:ext cx="523147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내부</a:t>
              </a:r>
              <a:r>
                <a:rPr kumimoji="0"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</a:t>
              </a:r>
            </a:p>
          </p:txBody>
        </p:sp>
        <p:sp>
          <p:nvSpPr>
            <p:cNvPr id="40" name="Rectangle 9">
              <a:extLst>
                <a:ext uri="{FF2B5EF4-FFF2-40B4-BE49-F238E27FC236}">
                  <a16:creationId xmlns:a16="http://schemas.microsoft.com/office/drawing/2014/main" id="{171E02E8-489C-450A-A0B2-5C4FB2373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5" y="1437492"/>
              <a:ext cx="1152685" cy="1328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내부          ▼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C6E4E16-BE04-42F9-B000-DD8EAC1B88D7}"/>
              </a:ext>
            </a:extLst>
          </p:cNvPr>
          <p:cNvGrpSpPr/>
          <p:nvPr/>
        </p:nvGrpSpPr>
        <p:grpSpPr>
          <a:xfrm>
            <a:off x="8025523" y="5881411"/>
            <a:ext cx="2002926" cy="142556"/>
            <a:chOff x="1952121" y="2101994"/>
            <a:chExt cx="2002926" cy="142556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BCCEA4B9-D32D-411C-B7B8-4C612D6BA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121" y="2121439"/>
              <a:ext cx="205184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기간</a:t>
              </a: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EF82B382-4B23-4D61-B976-B971B660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454" y="2101994"/>
              <a:ext cx="1740593" cy="1425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 eaLnBrk="1" hangingPunct="1"/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5" name="Rectangle 8">
            <a:extLst>
              <a:ext uri="{FF2B5EF4-FFF2-40B4-BE49-F238E27FC236}">
                <a16:creationId xmlns:a16="http://schemas.microsoft.com/office/drawing/2014/main" id="{231E018D-6E5B-44BF-A481-1C8A17D32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959" y="3076141"/>
            <a:ext cx="1092278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과제가 필요한가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내용은 적절한가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등에 관한 의견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9E6DF29-C429-4AB0-A9E5-C9BA0375E078}"/>
              </a:ext>
            </a:extLst>
          </p:cNvPr>
          <p:cNvGrpSpPr/>
          <p:nvPr/>
        </p:nvGrpSpPr>
        <p:grpSpPr>
          <a:xfrm>
            <a:off x="1865123" y="5860159"/>
            <a:ext cx="1639016" cy="195814"/>
            <a:chOff x="570164" y="1408051"/>
            <a:chExt cx="1639016" cy="195814"/>
          </a:xfrm>
        </p:grpSpPr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FF611DFA-F2D7-4F6A-8DEF-A37233318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64" y="1408051"/>
              <a:ext cx="483072" cy="195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채택여부</a:t>
              </a:r>
            </a:p>
          </p:txBody>
        </p:sp>
        <p:sp>
          <p:nvSpPr>
            <p:cNvPr id="52" name="Rectangle 9">
              <a:extLst>
                <a:ext uri="{FF2B5EF4-FFF2-40B4-BE49-F238E27FC236}">
                  <a16:creationId xmlns:a16="http://schemas.microsoft.com/office/drawing/2014/main" id="{4BA1E722-C4D3-4B10-9D7C-D5181B0F5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95" y="1437492"/>
              <a:ext cx="1152685" cy="13281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조건부채택      ▼</a:t>
              </a:r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7829D55-A583-42A7-A01A-EA795AD26CB1}"/>
              </a:ext>
            </a:extLst>
          </p:cNvPr>
          <p:cNvGrpSpPr/>
          <p:nvPr/>
        </p:nvGrpSpPr>
        <p:grpSpPr>
          <a:xfrm>
            <a:off x="1776022" y="6179071"/>
            <a:ext cx="3601947" cy="142556"/>
            <a:chOff x="1644344" y="2101994"/>
            <a:chExt cx="3601947" cy="142556"/>
          </a:xfrm>
        </p:grpSpPr>
        <p:sp>
          <p:nvSpPr>
            <p:cNvPr id="54" name="Rectangle 8">
              <a:extLst>
                <a:ext uri="{FF2B5EF4-FFF2-40B4-BE49-F238E27FC236}">
                  <a16:creationId xmlns:a16="http://schemas.microsoft.com/office/drawing/2014/main" id="{C7AAE4D5-3E9A-4AEE-B538-0E76C4A60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344" y="2121439"/>
              <a:ext cx="512961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r" eaLnBrk="1" hangingPunct="1"/>
              <a:r>
                <a:rPr kumimoji="0" lang="ko-KR" altLang="en-US" sz="8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붙채택사유</a:t>
              </a:r>
              <a:endPara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Rectangle 9">
              <a:extLst>
                <a:ext uri="{FF2B5EF4-FFF2-40B4-BE49-F238E27FC236}">
                  <a16:creationId xmlns:a16="http://schemas.microsoft.com/office/drawing/2014/main" id="{08910DD9-09F2-4C8D-B4E9-5B57F5E7B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454" y="2101994"/>
              <a:ext cx="3031837" cy="1425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tIns="36000" rIns="36000" bIns="360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l" eaLnBrk="1" hangingPunct="1"/>
              <a:endParaRPr kumimoji="0" lang="ko-KR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6" name="Rectangle 35">
            <a:extLst>
              <a:ext uri="{FF2B5EF4-FFF2-40B4-BE49-F238E27FC236}">
                <a16:creationId xmlns:a16="http://schemas.microsoft.com/office/drawing/2014/main" id="{DEB0DAA7-77F0-470D-BED7-F287C124C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16" y="2572719"/>
            <a:ext cx="73296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의견서 등록</a:t>
            </a:r>
            <a:endParaRPr kumimoji="0"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14">
            <a:extLst>
              <a:ext uri="{FF2B5EF4-FFF2-40B4-BE49-F238E27FC236}">
                <a16:creationId xmlns:a16="http://schemas.microsoft.com/office/drawing/2014/main" id="{4C4CE2B0-0FC6-4C41-8A4C-1F8B1F3A1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53" y="1534941"/>
            <a:ext cx="11117005" cy="93807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endParaRPr kumimoji="0" lang="ko-KR" altLang="en-US" sz="8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83DAEB5-7237-452D-B054-8168AA603DC8}"/>
              </a:ext>
            </a:extLst>
          </p:cNvPr>
          <p:cNvGrpSpPr/>
          <p:nvPr/>
        </p:nvGrpSpPr>
        <p:grpSpPr>
          <a:xfrm>
            <a:off x="1107741" y="2104667"/>
            <a:ext cx="1350962" cy="161925"/>
            <a:chOff x="2137433" y="2556176"/>
            <a:chExt cx="1350962" cy="161925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71" name="Rectangle 145" descr="type=input">
              <a:extLst>
                <a:ext uri="{FF2B5EF4-FFF2-40B4-BE49-F238E27FC236}">
                  <a16:creationId xmlns:a16="http://schemas.microsoft.com/office/drawing/2014/main" id="{D8E8D2A1-200C-43C3-A0E3-9E4D92F92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433" y="2556176"/>
              <a:ext cx="1350962" cy="16192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36000" rIns="360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</a:p>
          </p:txBody>
        </p:sp>
        <p:pic>
          <p:nvPicPr>
            <p:cNvPr id="75" name="Picture 188">
              <a:extLst>
                <a:ext uri="{FF2B5EF4-FFF2-40B4-BE49-F238E27FC236}">
                  <a16:creationId xmlns:a16="http://schemas.microsoft.com/office/drawing/2014/main" id="{C4F3A4EB-2356-44CB-944B-55D5E1069B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4882" y="2573326"/>
              <a:ext cx="142875" cy="1333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9" name="Rectangle 8">
            <a:extLst>
              <a:ext uri="{FF2B5EF4-FFF2-40B4-BE49-F238E27FC236}">
                <a16:creationId xmlns:a16="http://schemas.microsoft.com/office/drawing/2014/main" id="{77281F05-A097-4966-B453-2FA0398C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52" y="2124074"/>
            <a:ext cx="410369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검토기간</a:t>
            </a:r>
          </a:p>
        </p:txBody>
      </p:sp>
      <p:sp>
        <p:nvSpPr>
          <p:cNvPr id="78" name="Rectangle 8">
            <a:extLst>
              <a:ext uri="{FF2B5EF4-FFF2-40B4-BE49-F238E27FC236}">
                <a16:creationId xmlns:a16="http://schemas.microsoft.com/office/drawing/2014/main" id="{85B02DFF-E4ED-46E4-A2D7-2882E6CD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95" y="1688745"/>
            <a:ext cx="483072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연구분류</a:t>
            </a:r>
          </a:p>
        </p:txBody>
      </p:sp>
      <p:sp>
        <p:nvSpPr>
          <p:cNvPr id="79" name="Rectangle 9">
            <a:extLst>
              <a:ext uri="{FF2B5EF4-FFF2-40B4-BE49-F238E27FC236}">
                <a16:creationId xmlns:a16="http://schemas.microsoft.com/office/drawing/2014/main" id="{85AF60D9-2B7F-4378-90E5-01B9073BE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133" y="1701252"/>
            <a:ext cx="978504" cy="162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RP010</a:t>
            </a:r>
            <a:endParaRPr kumimoji="0"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Rectangle 17">
            <a:extLst>
              <a:ext uri="{FF2B5EF4-FFF2-40B4-BE49-F238E27FC236}">
                <a16:creationId xmlns:a16="http://schemas.microsoft.com/office/drawing/2014/main" id="{71DEBA6C-17DD-4ABC-93C0-E9F0C3881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3637" y="1701252"/>
            <a:ext cx="178698" cy="16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9pPr>
          </a:lstStyle>
          <a:p>
            <a:pPr algn="ctr" ea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96" name="Rectangle 8">
            <a:extLst>
              <a:ext uri="{FF2B5EF4-FFF2-40B4-BE49-F238E27FC236}">
                <a16:creationId xmlns:a16="http://schemas.microsoft.com/office/drawing/2014/main" id="{6B8DC613-D438-4C71-9FBA-562976C08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15" y="1688745"/>
            <a:ext cx="483072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대상년도</a:t>
            </a:r>
            <a:endParaRPr kumimoji="0"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" name="Rectangle 9">
            <a:extLst>
              <a:ext uri="{FF2B5EF4-FFF2-40B4-BE49-F238E27FC236}">
                <a16:creationId xmlns:a16="http://schemas.microsoft.com/office/drawing/2014/main" id="{DEB42F5D-D9C1-4CF4-9D86-5240AB286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453" y="1701252"/>
            <a:ext cx="978504" cy="162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RP350</a:t>
            </a:r>
            <a:endParaRPr kumimoji="0"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Rectangle 17">
            <a:extLst>
              <a:ext uri="{FF2B5EF4-FFF2-40B4-BE49-F238E27FC236}">
                <a16:creationId xmlns:a16="http://schemas.microsoft.com/office/drawing/2014/main" id="{4574C2C7-091A-4C4C-821E-768B0FE2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957" y="1701252"/>
            <a:ext cx="178698" cy="16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9pPr>
          </a:lstStyle>
          <a:p>
            <a:pPr algn="ctr" ea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101" name="Rectangle 8">
            <a:extLst>
              <a:ext uri="{FF2B5EF4-FFF2-40B4-BE49-F238E27FC236}">
                <a16:creationId xmlns:a16="http://schemas.microsoft.com/office/drawing/2014/main" id="{3D326B10-BBFE-47EC-BCD7-EF564BB68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637" y="1688745"/>
            <a:ext cx="483072" cy="19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연구유형</a:t>
            </a:r>
          </a:p>
        </p:txBody>
      </p:sp>
      <p:sp>
        <p:nvSpPr>
          <p:cNvPr id="102" name="Rectangle 9">
            <a:extLst>
              <a:ext uri="{FF2B5EF4-FFF2-40B4-BE49-F238E27FC236}">
                <a16:creationId xmlns:a16="http://schemas.microsoft.com/office/drawing/2014/main" id="{7DD1EBB1-E8F9-4F31-BE2F-2FA1898F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975" y="1701252"/>
            <a:ext cx="978504" cy="162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RP020</a:t>
            </a:r>
            <a:endParaRPr kumimoji="0" lang="ko-KR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Rectangle 17">
            <a:extLst>
              <a:ext uri="{FF2B5EF4-FFF2-40B4-BE49-F238E27FC236}">
                <a16:creationId xmlns:a16="http://schemas.microsoft.com/office/drawing/2014/main" id="{55D6111F-B3EE-4293-9F7E-A9289AB33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7479" y="1701252"/>
            <a:ext cx="178698" cy="162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  <a:sym typeface="Wingdings" panose="05000000000000000000" pitchFamily="2" charset="2"/>
              </a:defRPr>
            </a:lvl9pPr>
          </a:lstStyle>
          <a:p>
            <a:pPr algn="ctr" ea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105" name="Rectangle 167" descr="type=input">
            <a:extLst>
              <a:ext uri="{FF2B5EF4-FFF2-40B4-BE49-F238E27FC236}">
                <a16:creationId xmlns:a16="http://schemas.microsoft.com/office/drawing/2014/main" id="{EE4ADDB3-2346-4DE3-A9F2-6BAACAC99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9142" y="1705652"/>
            <a:ext cx="3641808" cy="162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Rectangle 8">
            <a:extLst>
              <a:ext uri="{FF2B5EF4-FFF2-40B4-BE49-F238E27FC236}">
                <a16:creationId xmlns:a16="http://schemas.microsoft.com/office/drawing/2014/main" id="{C8928AE5-FF87-453B-8E4E-AF29174E1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62" y="1725097"/>
            <a:ext cx="512961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/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연구과제명</a:t>
            </a:r>
          </a:p>
        </p:txBody>
      </p:sp>
      <p:sp>
        <p:nvSpPr>
          <p:cNvPr id="111" name="Rectangle 8">
            <a:extLst>
              <a:ext uri="{FF2B5EF4-FFF2-40B4-BE49-F238E27FC236}">
                <a16:creationId xmlns:a16="http://schemas.microsoft.com/office/drawing/2014/main" id="{ADC94F98-FA0E-4E06-8DBC-0993C5712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243" y="4061545"/>
            <a:ext cx="1157937" cy="56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정책과제로 적절한가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수정해야 할 내용은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소요예산 및 기간은</a:t>
            </a:r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  <a:p>
            <a:pPr eaLnBrk="1" hangingPunct="1"/>
            <a:r>
              <a:rPr kumimoji="0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등에 관한 의견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484674F-49F3-4AE1-BD1C-2105024453CF}"/>
              </a:ext>
            </a:extLst>
          </p:cNvPr>
          <p:cNvSpPr/>
          <p:nvPr/>
        </p:nvSpPr>
        <p:spPr bwMode="auto">
          <a:xfrm>
            <a:off x="12351899" y="-20489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인풋폼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연구과제내용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수정불가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인풋폼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의견서등록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채택여부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채택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불채택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조건부채택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단독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공동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단독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공동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기간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텍스트로 자유롭게 입력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불채택사유 </a:t>
            </a:r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채택여부가 불채택인 경우 입력가능 </a:t>
            </a:r>
            <a:r>
              <a:rPr kumimoji="1"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그외에는</a:t>
            </a:r>
            <a:r>
              <a:rPr kumimoji="1"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en-US" altLang="ko-KR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readonly</a:t>
            </a: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BE042A3B-7EC4-44BB-B52A-34144F9CE07F}"/>
              </a:ext>
            </a:extLst>
          </p:cNvPr>
          <p:cNvSpPr/>
          <p:nvPr/>
        </p:nvSpPr>
        <p:spPr bwMode="auto">
          <a:xfrm>
            <a:off x="12351899" y="1224623"/>
            <a:ext cx="5804387" cy="111340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kumimoji="1" lang="ko-KR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r>
              <a:rPr kumimoji="1"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800" dirty="0"/>
              <a:t>검토기한이 지나더라도</a:t>
            </a:r>
            <a:r>
              <a:rPr lang="en-US" altLang="ko-KR" sz="800" dirty="0"/>
              <a:t>, </a:t>
            </a:r>
            <a:r>
              <a:rPr lang="ko-KR" altLang="en-US" sz="800" dirty="0"/>
              <a:t>입력 가능</a:t>
            </a:r>
            <a:r>
              <a:rPr lang="en-US" altLang="ko-KR" sz="800" dirty="0"/>
              <a:t>, </a:t>
            </a:r>
            <a:r>
              <a:rPr lang="ko-KR" altLang="en-US" sz="800" dirty="0"/>
              <a:t>의견서등록이 완료되었더라도 추후에 </a:t>
            </a:r>
            <a:r>
              <a:rPr lang="ko-KR" altLang="en-US" sz="800" dirty="0" err="1"/>
              <a:t>등록가능해야함</a:t>
            </a:r>
            <a:endParaRPr lang="ko-KR" altLang="en-US" sz="8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538549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8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가는각진제목체" pitchFamily="18" charset="-127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가는각진제목체" pitchFamily="18" charset="-127"/>
            <a:ea typeface="가는각진제목체" pitchFamily="18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35273</TotalTime>
  <Words>684</Words>
  <Application>Microsoft Office PowerPoint</Application>
  <PresentationFormat>와이드스크린</PresentationFormat>
  <Paragraphs>211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가는각진제목체</vt:lpstr>
      <vt:lpstr>맑은 고딕</vt:lpstr>
      <vt:lpstr>Wingdings</vt:lpstr>
      <vt:lpstr>1_기본 디자인</vt:lpstr>
      <vt:lpstr>2_기본 디자인</vt:lpstr>
      <vt:lpstr>PowerPoint 프레젠테이션</vt:lpstr>
      <vt:lpstr>PowerPoint 프레젠테이션</vt:lpstr>
      <vt:lpstr>PowerPoint 프레젠테이션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안병진</dc:creator>
  <cp:lastModifiedBy>세정아이앤씨</cp:lastModifiedBy>
  <cp:revision>1532</cp:revision>
  <cp:lastPrinted>2024-09-24T05:15:37Z</cp:lastPrinted>
  <dcterms:created xsi:type="dcterms:W3CDTF">2015-07-20T02:09:10Z</dcterms:created>
  <dcterms:modified xsi:type="dcterms:W3CDTF">2026-04-07T04:40:45Z</dcterms:modified>
</cp:coreProperties>
</file>